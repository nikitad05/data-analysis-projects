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56" r:id="rId1"/>
  </p:sldMasterIdLst>
  <p:notesMasterIdLst>
    <p:notesMasterId r:id="rId17"/>
  </p:notes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DE496-EB8B-4FE0-B710-23341A9A1CE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477BE-FE44-4F13-B90B-CE08800E2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75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3477BE-FE44-4F13-B90B-CE08800E2F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00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84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61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91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1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549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2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9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12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05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091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21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4052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869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4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30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53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86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396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57" r:id="rId1"/>
    <p:sldLayoutId id="2147484458" r:id="rId2"/>
    <p:sldLayoutId id="2147484459" r:id="rId3"/>
    <p:sldLayoutId id="2147484460" r:id="rId4"/>
    <p:sldLayoutId id="2147484461" r:id="rId5"/>
    <p:sldLayoutId id="2147484462" r:id="rId6"/>
    <p:sldLayoutId id="2147484463" r:id="rId7"/>
    <p:sldLayoutId id="2147484464" r:id="rId8"/>
    <p:sldLayoutId id="2147484465" r:id="rId9"/>
    <p:sldLayoutId id="2147484466" r:id="rId10"/>
    <p:sldLayoutId id="2147484467" r:id="rId11"/>
    <p:sldLayoutId id="2147484468" r:id="rId12"/>
    <p:sldLayoutId id="2147484469" r:id="rId13"/>
    <p:sldLayoutId id="2147484470" r:id="rId14"/>
    <p:sldLayoutId id="2147484471" r:id="rId15"/>
    <p:sldLayoutId id="2147484472" r:id="rId16"/>
    <p:sldLayoutId id="2147484473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2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7" Type="http://schemas.openxmlformats.org/officeDocument/2006/relationships/image" Target="../media/image46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066F993-7075-B4F1-4605-CD6E8C34C8B3}"/>
              </a:ext>
            </a:extLst>
          </p:cNvPr>
          <p:cNvSpPr/>
          <p:nvPr/>
        </p:nvSpPr>
        <p:spPr>
          <a:xfrm>
            <a:off x="5479047" y="2839357"/>
            <a:ext cx="1742381" cy="17543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34B04D-E3F6-C1EF-B94C-01BD80E1262F}"/>
              </a:ext>
            </a:extLst>
          </p:cNvPr>
          <p:cNvSpPr txBox="1"/>
          <p:nvPr/>
        </p:nvSpPr>
        <p:spPr>
          <a:xfrm>
            <a:off x="92288" y="2337355"/>
            <a:ext cx="49477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Hospital Management </a:t>
            </a:r>
          </a:p>
          <a:p>
            <a:r>
              <a:rPr lang="en-US" sz="4000" b="1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AB4B92B-30CC-C519-C140-2D4B3552B59A}"/>
              </a:ext>
            </a:extLst>
          </p:cNvPr>
          <p:cNvGrpSpPr/>
          <p:nvPr/>
        </p:nvGrpSpPr>
        <p:grpSpPr>
          <a:xfrm>
            <a:off x="3674618" y="1252029"/>
            <a:ext cx="5351237" cy="4996829"/>
            <a:chOff x="3642714" y="1267767"/>
            <a:chExt cx="5351237" cy="4996829"/>
          </a:xfrm>
        </p:grpSpPr>
        <p:pic>
          <p:nvPicPr>
            <p:cNvPr id="4098" name="Picture 2" descr="53,500+ Hospital Building Stock Photos ...">
              <a:extLst>
                <a:ext uri="{FF2B5EF4-FFF2-40B4-BE49-F238E27FC236}">
                  <a16:creationId xmlns:a16="http://schemas.microsoft.com/office/drawing/2014/main" id="{4EF9444F-A892-E57A-34B2-52E09538F7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B22E3E"/>
                </a:clrFrom>
                <a:clrTo>
                  <a:srgbClr val="B22E3E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76" t="13362" r="2314" b="-4064"/>
            <a:stretch>
              <a:fillRect/>
            </a:stretch>
          </p:blipFill>
          <p:spPr bwMode="auto">
            <a:xfrm>
              <a:off x="5395002" y="2802169"/>
              <a:ext cx="1876163" cy="174455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/>
                </a:gs>
              </a:gsLst>
              <a:lin ang="5400000" scaled="1"/>
            </a:gradFill>
            <a:ln>
              <a:solidFill>
                <a:schemeClr val="tx1"/>
              </a:solidFill>
            </a:ln>
            <a:effectLst>
              <a:softEdge rad="112500"/>
            </a:effectLst>
          </p:spPr>
        </p:pic>
        <p:sp>
          <p:nvSpPr>
            <p:cNvPr id="16" name="Heptagon 15">
              <a:extLst>
                <a:ext uri="{FF2B5EF4-FFF2-40B4-BE49-F238E27FC236}">
                  <a16:creationId xmlns:a16="http://schemas.microsoft.com/office/drawing/2014/main" id="{73E332E1-DF33-8F4C-F94F-C5E2E363F0BA}"/>
                </a:ext>
              </a:extLst>
            </p:cNvPr>
            <p:cNvSpPr/>
            <p:nvPr/>
          </p:nvSpPr>
          <p:spPr>
            <a:xfrm>
              <a:off x="6330961" y="1267767"/>
              <a:ext cx="1516002" cy="1440181"/>
            </a:xfrm>
            <a:prstGeom prst="heptag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0" rIns="91440" bIns="731520" rtlCol="0" anchor="b" anchorCtr="1"/>
            <a:lstStyle/>
            <a:p>
              <a:pPr algn="ctr">
                <a:lnSpc>
                  <a:spcPct val="300000"/>
                </a:lnSpc>
              </a:pPr>
              <a:r>
                <a:rPr lang="en-US" sz="1600" b="1" u="sng" dirty="0"/>
                <a:t>Doctors</a:t>
              </a:r>
              <a:endParaRPr lang="en-US" b="1" u="sng" dirty="0"/>
            </a:p>
          </p:txBody>
        </p:sp>
        <p:sp>
          <p:nvSpPr>
            <p:cNvPr id="17" name="Heptagon 16">
              <a:extLst>
                <a:ext uri="{FF2B5EF4-FFF2-40B4-BE49-F238E27FC236}">
                  <a16:creationId xmlns:a16="http://schemas.microsoft.com/office/drawing/2014/main" id="{7D3D97A4-8A5C-6301-8AD4-92F5C7C1304E}"/>
                </a:ext>
              </a:extLst>
            </p:cNvPr>
            <p:cNvSpPr/>
            <p:nvPr/>
          </p:nvSpPr>
          <p:spPr>
            <a:xfrm>
              <a:off x="4025453" y="4190008"/>
              <a:ext cx="1516002" cy="1440181"/>
            </a:xfrm>
            <a:prstGeom prst="heptag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280160" rtlCol="0" anchor="ctr"/>
            <a:lstStyle/>
            <a:p>
              <a:pPr algn="ctr">
                <a:lnSpc>
                  <a:spcPct val="300000"/>
                </a:lnSpc>
              </a:pPr>
              <a:r>
                <a:rPr lang="en-US" sz="1600" b="1" u="sng" dirty="0"/>
                <a:t>Billing</a:t>
              </a:r>
              <a:endParaRPr lang="en-US" b="1" u="sng" dirty="0"/>
            </a:p>
          </p:txBody>
        </p:sp>
        <p:sp>
          <p:nvSpPr>
            <p:cNvPr id="18" name="Heptagon 17">
              <a:extLst>
                <a:ext uri="{FF2B5EF4-FFF2-40B4-BE49-F238E27FC236}">
                  <a16:creationId xmlns:a16="http://schemas.microsoft.com/office/drawing/2014/main" id="{8E8ED15A-E8A5-18B5-038D-692F438D2B76}"/>
                </a:ext>
              </a:extLst>
            </p:cNvPr>
            <p:cNvSpPr/>
            <p:nvPr/>
          </p:nvSpPr>
          <p:spPr>
            <a:xfrm>
              <a:off x="7477949" y="2480779"/>
              <a:ext cx="1516002" cy="1440181"/>
            </a:xfrm>
            <a:prstGeom prst="heptag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188720" rtlCol="0" anchor="ctr"/>
            <a:lstStyle/>
            <a:p>
              <a:pPr algn="ctr">
                <a:lnSpc>
                  <a:spcPct val="300000"/>
                </a:lnSpc>
              </a:pPr>
              <a:r>
                <a:rPr lang="en-US" sz="1400" b="1" u="sng" dirty="0"/>
                <a:t>Admissions</a:t>
              </a:r>
            </a:p>
          </p:txBody>
        </p:sp>
        <p:sp>
          <p:nvSpPr>
            <p:cNvPr id="19" name="Heptagon 18">
              <a:extLst>
                <a:ext uri="{FF2B5EF4-FFF2-40B4-BE49-F238E27FC236}">
                  <a16:creationId xmlns:a16="http://schemas.microsoft.com/office/drawing/2014/main" id="{54412D07-63C0-4B31-2CB7-E98FEB92BF9B}"/>
                </a:ext>
              </a:extLst>
            </p:cNvPr>
            <p:cNvSpPr/>
            <p:nvPr/>
          </p:nvSpPr>
          <p:spPr>
            <a:xfrm>
              <a:off x="4686699" y="1313494"/>
              <a:ext cx="1516002" cy="1440181"/>
            </a:xfrm>
            <a:prstGeom prst="heptag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188720" rtlCol="0" anchor="ctr"/>
            <a:lstStyle/>
            <a:p>
              <a:pPr algn="ctr">
                <a:lnSpc>
                  <a:spcPct val="300000"/>
                </a:lnSpc>
              </a:pPr>
              <a:r>
                <a:rPr lang="en-US" sz="1600" b="1" u="sng" dirty="0"/>
                <a:t>Patients</a:t>
              </a:r>
            </a:p>
          </p:txBody>
        </p:sp>
        <p:sp>
          <p:nvSpPr>
            <p:cNvPr id="20" name="Heptagon 19">
              <a:extLst>
                <a:ext uri="{FF2B5EF4-FFF2-40B4-BE49-F238E27FC236}">
                  <a16:creationId xmlns:a16="http://schemas.microsoft.com/office/drawing/2014/main" id="{F82D13D4-4841-1BAD-4977-32899B45F375}"/>
                </a:ext>
              </a:extLst>
            </p:cNvPr>
            <p:cNvSpPr/>
            <p:nvPr/>
          </p:nvSpPr>
          <p:spPr>
            <a:xfrm>
              <a:off x="3642714" y="2602499"/>
              <a:ext cx="1516002" cy="1440181"/>
            </a:xfrm>
            <a:prstGeom prst="heptag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097280" rtlCol="0" anchor="ctr"/>
            <a:lstStyle/>
            <a:p>
              <a:pPr algn="ctr">
                <a:lnSpc>
                  <a:spcPct val="300000"/>
                </a:lnSpc>
              </a:pPr>
              <a:r>
                <a:rPr lang="en-US" sz="1200" b="1" u="sng" dirty="0"/>
                <a:t>Medications</a:t>
              </a:r>
              <a:endParaRPr lang="en-US" b="1" u="sng" dirty="0"/>
            </a:p>
          </p:txBody>
        </p:sp>
        <p:sp>
          <p:nvSpPr>
            <p:cNvPr id="21" name="Heptagon 20">
              <a:extLst>
                <a:ext uri="{FF2B5EF4-FFF2-40B4-BE49-F238E27FC236}">
                  <a16:creationId xmlns:a16="http://schemas.microsoft.com/office/drawing/2014/main" id="{61EB26F9-A947-D571-4912-FADE85B1A68D}"/>
                </a:ext>
              </a:extLst>
            </p:cNvPr>
            <p:cNvSpPr/>
            <p:nvPr/>
          </p:nvSpPr>
          <p:spPr>
            <a:xfrm>
              <a:off x="7277972" y="4150052"/>
              <a:ext cx="1516002" cy="1440181"/>
            </a:xfrm>
            <a:prstGeom prst="heptag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097280" rtlCol="0" anchor="ctr"/>
            <a:lstStyle/>
            <a:p>
              <a:pPr algn="ctr">
                <a:lnSpc>
                  <a:spcPct val="300000"/>
                </a:lnSpc>
              </a:pPr>
              <a:r>
                <a:rPr lang="en-US" sz="1100" b="1" u="sng" dirty="0"/>
                <a:t>Appointments</a:t>
              </a:r>
              <a:endParaRPr lang="en-US" b="1" u="sng" dirty="0"/>
            </a:p>
          </p:txBody>
        </p:sp>
        <p:sp>
          <p:nvSpPr>
            <p:cNvPr id="22" name="Heptagon 21">
              <a:extLst>
                <a:ext uri="{FF2B5EF4-FFF2-40B4-BE49-F238E27FC236}">
                  <a16:creationId xmlns:a16="http://schemas.microsoft.com/office/drawing/2014/main" id="{7630CAE7-7133-F212-E85B-7A552004F217}"/>
                </a:ext>
              </a:extLst>
            </p:cNvPr>
            <p:cNvSpPr/>
            <p:nvPr/>
          </p:nvSpPr>
          <p:spPr>
            <a:xfrm>
              <a:off x="5705426" y="4824415"/>
              <a:ext cx="1516002" cy="1440181"/>
            </a:xfrm>
            <a:prstGeom prst="heptag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bIns="1280160" rtlCol="0" anchor="ctr"/>
            <a:lstStyle/>
            <a:p>
              <a:pPr algn="ctr">
                <a:lnSpc>
                  <a:spcPct val="300000"/>
                </a:lnSpc>
              </a:pPr>
              <a:r>
                <a:rPr lang="en-US" sz="1600" b="1" u="sng" dirty="0"/>
                <a:t>Rooms</a:t>
              </a:r>
              <a:endParaRPr lang="en-US" b="1" u="sng" dirty="0"/>
            </a:p>
          </p:txBody>
        </p:sp>
      </p:grpSp>
      <p:pic>
        <p:nvPicPr>
          <p:cNvPr id="26" name="Graphic 25" descr="Doctor">
            <a:extLst>
              <a:ext uri="{FF2B5EF4-FFF2-40B4-BE49-F238E27FC236}">
                <a16:creationId xmlns:a16="http://schemas.microsoft.com/office/drawing/2014/main" id="{F4AF1900-B2BB-5880-80EF-34B460276F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1762" y="1688099"/>
            <a:ext cx="914400" cy="914400"/>
          </a:xfrm>
          <a:prstGeom prst="rect">
            <a:avLst/>
          </a:prstGeom>
        </p:spPr>
      </p:pic>
      <p:pic>
        <p:nvPicPr>
          <p:cNvPr id="28" name="Graphic 27" descr="Group">
            <a:extLst>
              <a:ext uri="{FF2B5EF4-FFF2-40B4-BE49-F238E27FC236}">
                <a16:creationId xmlns:a16="http://schemas.microsoft.com/office/drawing/2014/main" id="{75D39B66-C429-4CF5-41A7-682AF448CC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02317" y="1774954"/>
            <a:ext cx="914400" cy="914400"/>
          </a:xfrm>
          <a:prstGeom prst="rect">
            <a:avLst/>
          </a:prstGeom>
        </p:spPr>
      </p:pic>
      <p:pic>
        <p:nvPicPr>
          <p:cNvPr id="30" name="Graphic 29" descr="Sleep">
            <a:extLst>
              <a:ext uri="{FF2B5EF4-FFF2-40B4-BE49-F238E27FC236}">
                <a16:creationId xmlns:a16="http://schemas.microsoft.com/office/drawing/2014/main" id="{6495E927-D7A4-E0CA-4CB5-8E1BA49AD2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60622" y="2836044"/>
            <a:ext cx="914400" cy="914400"/>
          </a:xfrm>
          <a:prstGeom prst="rect">
            <a:avLst/>
          </a:prstGeom>
        </p:spPr>
      </p:pic>
      <p:pic>
        <p:nvPicPr>
          <p:cNvPr id="32" name="Graphic 31" descr="Calculator">
            <a:extLst>
              <a:ext uri="{FF2B5EF4-FFF2-40B4-BE49-F238E27FC236}">
                <a16:creationId xmlns:a16="http://schemas.microsoft.com/office/drawing/2014/main" id="{32ACC273-306F-4438-6E5C-527AA0FC82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54987" y="4593682"/>
            <a:ext cx="914400" cy="914400"/>
          </a:xfrm>
          <a:prstGeom prst="rect">
            <a:avLst/>
          </a:prstGeom>
        </p:spPr>
      </p:pic>
      <p:pic>
        <p:nvPicPr>
          <p:cNvPr id="36" name="Graphic 35" descr="Monthly calendar">
            <a:extLst>
              <a:ext uri="{FF2B5EF4-FFF2-40B4-BE49-F238E27FC236}">
                <a16:creationId xmlns:a16="http://schemas.microsoft.com/office/drawing/2014/main" id="{4F9D2EF1-34DB-EE21-4F74-3F53D72CA1B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46162" y="4493177"/>
            <a:ext cx="914400" cy="914400"/>
          </a:xfrm>
          <a:prstGeom prst="rect">
            <a:avLst/>
          </a:prstGeom>
        </p:spPr>
      </p:pic>
      <p:pic>
        <p:nvPicPr>
          <p:cNvPr id="38" name="Graphic 37" descr="Medicine">
            <a:extLst>
              <a:ext uri="{FF2B5EF4-FFF2-40B4-BE49-F238E27FC236}">
                <a16:creationId xmlns:a16="http://schemas.microsoft.com/office/drawing/2014/main" id="{CAA830FB-3746-314E-744C-AA264AD48CF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018984" y="3047257"/>
            <a:ext cx="914400" cy="914400"/>
          </a:xfrm>
          <a:prstGeom prst="rect">
            <a:avLst/>
          </a:prstGeom>
        </p:spPr>
      </p:pic>
      <p:pic>
        <p:nvPicPr>
          <p:cNvPr id="40" name="Graphic 39" descr="Bed">
            <a:extLst>
              <a:ext uri="{FF2B5EF4-FFF2-40B4-BE49-F238E27FC236}">
                <a16:creationId xmlns:a16="http://schemas.microsoft.com/office/drawing/2014/main" id="{37316C0B-03B4-4B5D-9DFC-C7A3E587BE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017898" y="522826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24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748" y="117858"/>
            <a:ext cx="6377940" cy="1293028"/>
          </a:xfrm>
        </p:spPr>
        <p:txBody>
          <a:bodyPr/>
          <a:lstStyle/>
          <a:p>
            <a:r>
              <a:rPr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0886"/>
            <a:ext cx="8319052" cy="5172475"/>
          </a:xfrm>
        </p:spPr>
        <p:txBody>
          <a:bodyPr>
            <a:normAutofit/>
          </a:bodyPr>
          <a:lstStyle/>
          <a:p>
            <a:r>
              <a:rPr lang="en-US" sz="3600" dirty="0"/>
              <a:t>Hospital Management System stores hospital data.</a:t>
            </a:r>
          </a:p>
          <a:p>
            <a:r>
              <a:rPr lang="en-US" sz="3600" dirty="0"/>
              <a:t>Tracks </a:t>
            </a:r>
            <a:r>
              <a:rPr lang="en-US" sz="3600" b="1" dirty="0"/>
              <a:t>patients, doctors, rooms, appointments, billing, and medicines</a:t>
            </a:r>
            <a:r>
              <a:rPr lang="en-US" sz="3600" dirty="0"/>
              <a:t>.</a:t>
            </a:r>
          </a:p>
          <a:p>
            <a:r>
              <a:rPr lang="en-US" sz="3600" dirty="0"/>
              <a:t>Made in </a:t>
            </a:r>
            <a:r>
              <a:rPr lang="en-US" sz="3600" b="1" dirty="0"/>
              <a:t>MySQL Workbench</a:t>
            </a:r>
            <a:r>
              <a:rPr lang="en-US" sz="3600" dirty="0"/>
              <a:t>.</a:t>
            </a:r>
          </a:p>
          <a:p>
            <a:r>
              <a:rPr lang="en-US" sz="3600" dirty="0"/>
              <a:t>Helps hospital work become </a:t>
            </a:r>
            <a:r>
              <a:rPr lang="en-US" sz="3600" b="1" dirty="0"/>
              <a:t>easy and fast</a:t>
            </a:r>
            <a:r>
              <a:rPr lang="en-US" sz="3600" dirty="0"/>
              <a:t>.</a:t>
            </a:r>
            <a:endParaRPr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918" y="85072"/>
            <a:ext cx="7055380" cy="1400530"/>
          </a:xfrm>
        </p:spPr>
        <p:txBody>
          <a:bodyPr/>
          <a:lstStyle/>
          <a:p>
            <a:r>
              <a:rPr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4470"/>
            <a:ext cx="8229600" cy="4604687"/>
          </a:xfrm>
        </p:spPr>
        <p:txBody>
          <a:bodyPr>
            <a:normAutofit/>
          </a:bodyPr>
          <a:lstStyle/>
          <a:p>
            <a:r>
              <a:rPr lang="en-US" sz="2800" dirty="0"/>
              <a:t>Keep hospital data </a:t>
            </a:r>
            <a:r>
              <a:rPr lang="en-US" sz="2800" b="1" dirty="0"/>
              <a:t>organized</a:t>
            </a:r>
            <a:r>
              <a:rPr lang="en-US" sz="2800" dirty="0"/>
              <a:t>.</a:t>
            </a:r>
          </a:p>
          <a:p>
            <a:r>
              <a:rPr lang="en-US" sz="2800" dirty="0"/>
              <a:t>Manage </a:t>
            </a:r>
            <a:r>
              <a:rPr lang="en-US" sz="2800" b="1" dirty="0"/>
              <a:t>patients, doctors, rooms, appointments, billing, and medicines</a:t>
            </a:r>
            <a:r>
              <a:rPr lang="en-US" sz="2800" dirty="0"/>
              <a:t>.</a:t>
            </a:r>
          </a:p>
          <a:p>
            <a:r>
              <a:rPr lang="en-US" sz="2800" dirty="0"/>
              <a:t>Give </a:t>
            </a:r>
            <a:r>
              <a:rPr lang="en-US" sz="2800" b="1" dirty="0"/>
              <a:t>quick information</a:t>
            </a:r>
            <a:r>
              <a:rPr lang="en-US" sz="2800" dirty="0"/>
              <a:t> to staff (like pending bills or admitted patients).</a:t>
            </a:r>
          </a:p>
          <a:p>
            <a:r>
              <a:rPr lang="en-US" sz="2800" dirty="0"/>
              <a:t>Make hospital work </a:t>
            </a:r>
            <a:r>
              <a:rPr lang="en-US" sz="2800" b="1" dirty="0"/>
              <a:t>faster and easier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783" y="94499"/>
            <a:ext cx="7055380" cy="1400530"/>
          </a:xfrm>
        </p:spPr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 Overview</a:t>
            </a:r>
            <a:endParaRPr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783" y="1207660"/>
            <a:ext cx="8945217" cy="519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Database Name: hospital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Tables and Their Purpose:</a:t>
            </a:r>
          </a:p>
          <a:p>
            <a:pPr marL="0" indent="0">
              <a:buNone/>
            </a:pPr>
            <a:r>
              <a:rPr lang="en-US" sz="1800" dirty="0"/>
              <a:t>1. Patients       → Stores patient information</a:t>
            </a:r>
          </a:p>
          <a:p>
            <a:pPr marL="0" indent="0">
              <a:buNone/>
            </a:pPr>
            <a:r>
              <a:rPr lang="en-US" sz="1800" dirty="0"/>
              <a:t>2. Doctors        → Stores doctor details and specialization</a:t>
            </a:r>
          </a:p>
          <a:p>
            <a:pPr marL="0" indent="0">
              <a:buNone/>
            </a:pPr>
            <a:r>
              <a:rPr lang="en-US" sz="1800" dirty="0"/>
              <a:t>3. Rooms          → Tracks hospital rooms and their status (Available/Occupied)</a:t>
            </a:r>
          </a:p>
          <a:p>
            <a:pPr marL="0" indent="0">
              <a:buNone/>
            </a:pPr>
            <a:r>
              <a:rPr lang="en-US" sz="1800" dirty="0"/>
              <a:t>4. Appointments   → Tracks patient appointments with doctors</a:t>
            </a:r>
          </a:p>
          <a:p>
            <a:pPr marL="0" indent="0">
              <a:buNone/>
            </a:pPr>
            <a:r>
              <a:rPr lang="en-US" sz="1800" dirty="0"/>
              <a:t>5. Admissions     → Tracks patient admissions, discharge, and room allocation</a:t>
            </a:r>
          </a:p>
          <a:p>
            <a:pPr marL="0" indent="0">
              <a:buNone/>
            </a:pPr>
            <a:r>
              <a:rPr lang="en-US" sz="1800" dirty="0"/>
              <a:t>6. Billing        → Stores payment details and status (Paid/Unpaid)</a:t>
            </a:r>
          </a:p>
          <a:p>
            <a:pPr marL="0" indent="0">
              <a:buNone/>
            </a:pPr>
            <a:r>
              <a:rPr lang="en-US" sz="1800" dirty="0"/>
              <a:t>7. Medications    → Tracks medicines prescribed to patients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Note:</a:t>
            </a:r>
            <a:r>
              <a:rPr lang="en-US" sz="1800" dirty="0"/>
              <a:t> Tables are connected using </a:t>
            </a:r>
            <a:r>
              <a:rPr lang="en-US" sz="1800" b="1" dirty="0"/>
              <a:t>primary and foreign keys</a:t>
            </a:r>
            <a:r>
              <a:rPr lang="en-US" sz="1800" dirty="0"/>
              <a:t>.</a:t>
            </a: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3CD60A05-D728-F8C6-303C-B09643C6F35F}"/>
              </a:ext>
            </a:extLst>
          </p:cNvPr>
          <p:cNvSpPr/>
          <p:nvPr/>
        </p:nvSpPr>
        <p:spPr>
          <a:xfrm>
            <a:off x="829559" y="1418386"/>
            <a:ext cx="1866507" cy="9615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Patients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777FA02-91AE-29D7-BCD5-3FDF7A22034C}"/>
              </a:ext>
            </a:extLst>
          </p:cNvPr>
          <p:cNvSpPr/>
          <p:nvPr/>
        </p:nvSpPr>
        <p:spPr>
          <a:xfrm>
            <a:off x="3612037" y="4358724"/>
            <a:ext cx="2072326" cy="9615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Admissions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9CFBD1-F8A4-DCF1-0B6E-57ACB3BADC2E}"/>
              </a:ext>
            </a:extLst>
          </p:cNvPr>
          <p:cNvSpPr/>
          <p:nvPr/>
        </p:nvSpPr>
        <p:spPr>
          <a:xfrm>
            <a:off x="3826888" y="5792971"/>
            <a:ext cx="1791093" cy="9615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Billing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A9B80F-6576-2E1D-47E5-66EAF5748E43}"/>
              </a:ext>
            </a:extLst>
          </p:cNvPr>
          <p:cNvSpPr/>
          <p:nvPr/>
        </p:nvSpPr>
        <p:spPr>
          <a:xfrm>
            <a:off x="6557125" y="3466317"/>
            <a:ext cx="1791093" cy="9615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Rooms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C36B1D-56E1-78A1-110E-1472D50E3EB1}"/>
              </a:ext>
            </a:extLst>
          </p:cNvPr>
          <p:cNvSpPr/>
          <p:nvPr/>
        </p:nvSpPr>
        <p:spPr>
          <a:xfrm>
            <a:off x="6781013" y="1333182"/>
            <a:ext cx="1791093" cy="9615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Doctors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698F38-E6D1-0C24-0C2A-D70CAA65B760}"/>
              </a:ext>
            </a:extLst>
          </p:cNvPr>
          <p:cNvSpPr/>
          <p:nvPr/>
        </p:nvSpPr>
        <p:spPr>
          <a:xfrm>
            <a:off x="3432530" y="2469506"/>
            <a:ext cx="2545236" cy="9615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Appointments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CCE89A7-8F47-DEE2-372B-51F724E70754}"/>
              </a:ext>
            </a:extLst>
          </p:cNvPr>
          <p:cNvSpPr/>
          <p:nvPr/>
        </p:nvSpPr>
        <p:spPr>
          <a:xfrm>
            <a:off x="729398" y="3675616"/>
            <a:ext cx="2072326" cy="89240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Medications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87BFA5E-AFE5-65AB-276A-A8DCB97BDCB7}"/>
              </a:ext>
            </a:extLst>
          </p:cNvPr>
          <p:cNvCxnSpPr>
            <a:cxnSpLocks/>
          </p:cNvCxnSpPr>
          <p:nvPr/>
        </p:nvCxnSpPr>
        <p:spPr>
          <a:xfrm>
            <a:off x="2559569" y="2187019"/>
            <a:ext cx="860399" cy="6693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AAAD73D-C429-E0EF-0BAA-F1A6C9F7FB96}"/>
              </a:ext>
            </a:extLst>
          </p:cNvPr>
          <p:cNvCxnSpPr>
            <a:cxnSpLocks/>
          </p:cNvCxnSpPr>
          <p:nvPr/>
        </p:nvCxnSpPr>
        <p:spPr>
          <a:xfrm flipH="1">
            <a:off x="5981697" y="2112073"/>
            <a:ext cx="928150" cy="7148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5617AC-DE19-9021-085E-B0622230AA04}"/>
              </a:ext>
            </a:extLst>
          </p:cNvPr>
          <p:cNvCxnSpPr>
            <a:cxnSpLocks/>
          </p:cNvCxnSpPr>
          <p:nvPr/>
        </p:nvCxnSpPr>
        <p:spPr>
          <a:xfrm>
            <a:off x="4604205" y="3466317"/>
            <a:ext cx="0" cy="8924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EC09A9B-8AED-30F1-6450-26B44B45FE3B}"/>
              </a:ext>
            </a:extLst>
          </p:cNvPr>
          <p:cNvCxnSpPr>
            <a:cxnSpLocks/>
          </p:cNvCxnSpPr>
          <p:nvPr/>
        </p:nvCxnSpPr>
        <p:spPr>
          <a:xfrm>
            <a:off x="2791904" y="4288170"/>
            <a:ext cx="820133" cy="4378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CBCE052-042F-487B-97E5-A9881629160F}"/>
              </a:ext>
            </a:extLst>
          </p:cNvPr>
          <p:cNvCxnSpPr>
            <a:cxnSpLocks/>
          </p:cNvCxnSpPr>
          <p:nvPr/>
        </p:nvCxnSpPr>
        <p:spPr>
          <a:xfrm flipH="1">
            <a:off x="5684363" y="4196108"/>
            <a:ext cx="969782" cy="5298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DAEDCC7-BD91-A75B-69C1-1C93424411D1}"/>
              </a:ext>
            </a:extLst>
          </p:cNvPr>
          <p:cNvCxnSpPr>
            <a:cxnSpLocks/>
          </p:cNvCxnSpPr>
          <p:nvPr/>
        </p:nvCxnSpPr>
        <p:spPr>
          <a:xfrm>
            <a:off x="4705148" y="5320258"/>
            <a:ext cx="16891" cy="4727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975A1FA-CD5F-88AD-E5AC-0EEDCB0CC8CC}"/>
              </a:ext>
            </a:extLst>
          </p:cNvPr>
          <p:cNvSpPr txBox="1"/>
          <p:nvPr/>
        </p:nvSpPr>
        <p:spPr>
          <a:xfrm>
            <a:off x="339365" y="165033"/>
            <a:ext cx="4365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84" y="0"/>
            <a:ext cx="7055380" cy="801047"/>
          </a:xfrm>
        </p:spPr>
        <p:txBody>
          <a:bodyPr/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Patients &amp; Doctors</a:t>
            </a:r>
            <a:endParaRPr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984" y="801047"/>
            <a:ext cx="8937028" cy="6056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Patients Table</a:t>
            </a:r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800" b="1" dirty="0"/>
              <a:t>Doctors Table</a:t>
            </a:r>
          </a:p>
          <a:p>
            <a:pPr marL="0" indent="0">
              <a:buNone/>
            </a:pPr>
            <a:endParaRPr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7B2F0F-7F6B-53B9-5E68-B69CBC8F579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225826" y="1320815"/>
            <a:ext cx="6970538" cy="2108185"/>
          </a:xfrm>
          <a:prstGeom prst="rect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96000">
                <a:schemeClr val="accent1">
                  <a:lumMod val="40000"/>
                  <a:lumOff val="60000"/>
                </a:schemeClr>
              </a:gs>
            </a:gsLst>
            <a:path path="circle">
              <a:fillToRect l="100000" t="100000"/>
            </a:path>
          </a:gra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A14BF1-903B-44CE-FC17-756761A61F9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254106" y="4326903"/>
            <a:ext cx="7124096" cy="217759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34E9C2-A178-22C4-4288-52D273280F16}"/>
              </a:ext>
            </a:extLst>
          </p:cNvPr>
          <p:cNvCxnSpPr/>
          <p:nvPr/>
        </p:nvCxnSpPr>
        <p:spPr>
          <a:xfrm>
            <a:off x="254106" y="3725159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199" y="0"/>
            <a:ext cx="7055380" cy="1400530"/>
          </a:xfrm>
        </p:spPr>
        <p:txBody>
          <a:bodyPr/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Rooms Status</a:t>
            </a:r>
            <a:endParaRPr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867266"/>
            <a:ext cx="9144000" cy="5990734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Show available rooms: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Check rooms ready for new patients.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Show all rooms and status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Overview of free and occupied rooms.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Room usage count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See how many times each room has been used.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D34273-AEC4-A91B-50CD-58FEB11C389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54189" y="1240759"/>
            <a:ext cx="2335369" cy="6794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D83CD9-9CF3-F1A9-B9EC-291E2780CD3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009075" y="3075952"/>
            <a:ext cx="2124326" cy="1125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A86190-EBFC-5ED9-6075-B9C35126B79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059710" y="5341500"/>
            <a:ext cx="2124326" cy="9449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C1D2B4-90BA-EC57-76C8-CACEE11864AF}"/>
              </a:ext>
            </a:extLst>
          </p:cNvPr>
          <p:cNvCxnSpPr/>
          <p:nvPr/>
        </p:nvCxnSpPr>
        <p:spPr>
          <a:xfrm>
            <a:off x="311083" y="2556236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BC234E3-7845-BB18-6E39-D6091397A9C5}"/>
              </a:ext>
            </a:extLst>
          </p:cNvPr>
          <p:cNvCxnSpPr/>
          <p:nvPr/>
        </p:nvCxnSpPr>
        <p:spPr>
          <a:xfrm>
            <a:off x="386497" y="4782533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9658"/>
            <a:ext cx="6711654" cy="669072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Appointments Tracking</a:t>
            </a:r>
            <a:endParaRPr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58628"/>
            <a:ext cx="9144000" cy="6089714"/>
          </a:xfrm>
        </p:spPr>
        <p:txBody>
          <a:bodyPr>
            <a:noAutofit/>
          </a:bodyPr>
          <a:lstStyle/>
          <a:p>
            <a:r>
              <a:rPr lang="en-US" sz="1800" dirty="0"/>
              <a:t>Show all appointments with patient names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See which patient has an appointment.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dirty="0"/>
          </a:p>
          <a:p>
            <a:r>
              <a:rPr lang="en-US" sz="1800" dirty="0"/>
              <a:t>Show all appointments and mark upcoming ones</a:t>
            </a:r>
          </a:p>
          <a:p>
            <a:endParaRPr lang="en-US" sz="1800" dirty="0"/>
          </a:p>
          <a:p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endParaRPr lang="en-US" sz="1800" i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Identify upcoming vs past appointments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Count total appointments</a:t>
            </a:r>
            <a:endParaRPr lang="en-US" sz="1800" i="1" dirty="0"/>
          </a:p>
          <a:p>
            <a:pPr marL="0" indent="0">
              <a:buNone/>
            </a:pPr>
            <a:endParaRPr lang="en-US" sz="1800" i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Know the total number of appointments in the hospital.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268C80-71AB-754B-FA10-8CD2945C72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71512" y="1131016"/>
            <a:ext cx="3446305" cy="1205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2D4725-B122-F1F6-86F5-7BB95BEF751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73524" y="3584933"/>
            <a:ext cx="3479018" cy="12059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8C3EF3-1211-8B9F-BF11-BC62D16ED89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71513" y="5952492"/>
            <a:ext cx="1275787" cy="4709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BE6387-4917-0D5D-BC37-0083111FAF30}"/>
              </a:ext>
            </a:extLst>
          </p:cNvPr>
          <p:cNvCxnSpPr/>
          <p:nvPr/>
        </p:nvCxnSpPr>
        <p:spPr>
          <a:xfrm>
            <a:off x="311083" y="2961588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CF55955-1206-C041-3A22-038C4A0A1D0D}"/>
              </a:ext>
            </a:extLst>
          </p:cNvPr>
          <p:cNvCxnSpPr/>
          <p:nvPr/>
        </p:nvCxnSpPr>
        <p:spPr>
          <a:xfrm>
            <a:off x="311083" y="5319861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8100"/>
            <a:ext cx="7055380" cy="669072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Billing Overview</a:t>
            </a:r>
            <a:endParaRPr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59876"/>
            <a:ext cx="9144000" cy="6198123"/>
          </a:xfrm>
        </p:spPr>
        <p:txBody>
          <a:bodyPr>
            <a:noAutofit/>
          </a:bodyPr>
          <a:lstStyle/>
          <a:p>
            <a:r>
              <a:rPr lang="en-US" sz="1800" dirty="0"/>
              <a:t>Show billing info with patient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Insight: Know who has paid and who hasn’t.</a:t>
            </a:r>
          </a:p>
          <a:p>
            <a:endParaRPr lang="en-US" sz="1800" dirty="0"/>
          </a:p>
          <a:p>
            <a:r>
              <a:rPr lang="en-US" sz="1800" dirty="0"/>
              <a:t>Total unpaid amount</a:t>
            </a:r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Insight: Track pending payments.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Total billing per patient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Insight: See total charges per patient.</a:t>
            </a:r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664289-BF9A-23D2-14D7-5A894217730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21409" y="1067136"/>
            <a:ext cx="3736532" cy="12292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4E70A8-AEC0-DD68-293C-886A51EC848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21409" y="3429000"/>
            <a:ext cx="1248954" cy="43524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4A5653-50BE-AB70-C6AA-89063DE10DE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721409" y="5081047"/>
            <a:ext cx="2124637" cy="11170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5B9146-D18D-725D-1C50-5C49FA7B0462}"/>
              </a:ext>
            </a:extLst>
          </p:cNvPr>
          <p:cNvCxnSpPr/>
          <p:nvPr/>
        </p:nvCxnSpPr>
        <p:spPr>
          <a:xfrm>
            <a:off x="311083" y="2773052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6A8F4E-A1B3-3C38-4A51-9C56083B3A4D}"/>
              </a:ext>
            </a:extLst>
          </p:cNvPr>
          <p:cNvCxnSpPr/>
          <p:nvPr/>
        </p:nvCxnSpPr>
        <p:spPr>
          <a:xfrm>
            <a:off x="388068" y="4433741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055380" cy="650218"/>
          </a:xfrm>
        </p:spPr>
        <p:txBody>
          <a:bodyPr/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Patient Medications</a:t>
            </a:r>
            <a:endParaRPr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75035"/>
            <a:ext cx="9144000" cy="6282965"/>
          </a:xfrm>
        </p:spPr>
        <p:txBody>
          <a:bodyPr>
            <a:noAutofit/>
          </a:bodyPr>
          <a:lstStyle/>
          <a:p>
            <a:r>
              <a:rPr lang="en-US" sz="1800" dirty="0"/>
              <a:t>Show medications with patient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Track which medicines patients are taking.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Show all medications and highlight ongoing ones</a:t>
            </a:r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See which medicines are still being taken.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Most prescribed medicine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Helps manage medicine stock efficiently.</a:t>
            </a:r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221DC-1330-6378-EF1C-DBE5A2B0B7C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91085" y="948729"/>
            <a:ext cx="4819901" cy="11811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877E25-A6F9-1F55-8E32-0E298A38483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91085" y="3374545"/>
            <a:ext cx="3830086" cy="8360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0F0F60-FE90-0091-8131-A0E8F15A255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91085" y="5455336"/>
            <a:ext cx="2189064" cy="6502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AB78173-B432-6140-F19C-F803E31DD7AD}"/>
              </a:ext>
            </a:extLst>
          </p:cNvPr>
          <p:cNvCxnSpPr/>
          <p:nvPr/>
        </p:nvCxnSpPr>
        <p:spPr>
          <a:xfrm>
            <a:off x="386498" y="2754199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07C7E2D-F489-37FB-2AF6-A8FFB7520664}"/>
              </a:ext>
            </a:extLst>
          </p:cNvPr>
          <p:cNvCxnSpPr/>
          <p:nvPr/>
        </p:nvCxnSpPr>
        <p:spPr>
          <a:xfrm>
            <a:off x="293801" y="4791960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42F94-4AAA-68FA-D0F3-F8DDECC0A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55380" cy="621938"/>
          </a:xfrm>
        </p:spPr>
        <p:txBody>
          <a:bodyPr>
            <a:normAutofit fontScale="90000"/>
          </a:bodyPr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Patient Admissions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9A7D9-E40E-6A87-CA0C-B0BA1DF68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6755"/>
            <a:ext cx="9144000" cy="6311245"/>
          </a:xfrm>
        </p:spPr>
        <p:txBody>
          <a:bodyPr>
            <a:noAutofit/>
          </a:bodyPr>
          <a:lstStyle/>
          <a:p>
            <a:r>
              <a:rPr lang="en-US" sz="1800" dirty="0"/>
              <a:t>Show patients in ICU</a:t>
            </a:r>
          </a:p>
          <a:p>
            <a:endParaRPr lang="en-US" sz="1800" dirty="0"/>
          </a:p>
          <a:p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Identify critical patients.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Patients currently admitted</a:t>
            </a:r>
          </a:p>
          <a:p>
            <a:endParaRPr lang="en-US" sz="1800" dirty="0"/>
          </a:p>
          <a:p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See which patients are still in the hospital.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Total days each patient admitted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Track how long patients stayed in the hospital.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3EF217-6D0F-8E85-6E5A-4075B59048C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64583" y="1010411"/>
            <a:ext cx="2603462" cy="6219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C28440-03F6-D2A0-3EDE-FA42F24C535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23827" y="2962198"/>
            <a:ext cx="2469822" cy="6219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C1EC4C-2EFA-231C-B16A-05F1EAC5E4D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138979" y="4952844"/>
            <a:ext cx="2254670" cy="12371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EA23BAA-37BF-85BB-4159-46A8C2CF77C8}"/>
              </a:ext>
            </a:extLst>
          </p:cNvPr>
          <p:cNvCxnSpPr/>
          <p:nvPr/>
        </p:nvCxnSpPr>
        <p:spPr>
          <a:xfrm>
            <a:off x="274947" y="2320566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A13C13-E259-9731-1F55-5277D8BC9910}"/>
              </a:ext>
            </a:extLst>
          </p:cNvPr>
          <p:cNvCxnSpPr/>
          <p:nvPr/>
        </p:nvCxnSpPr>
        <p:spPr>
          <a:xfrm>
            <a:off x="274947" y="4358327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813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A8084-3644-4523-41E7-B5EEC51CF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55380" cy="574804"/>
          </a:xfrm>
        </p:spPr>
        <p:txBody>
          <a:bodyPr>
            <a:normAutofit fontScale="90000"/>
          </a:bodyPr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Patient &amp; Payment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FF0A-02B2-3040-8D9F-D9B445788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74804"/>
            <a:ext cx="9144000" cy="6283196"/>
          </a:xfrm>
        </p:spPr>
        <p:txBody>
          <a:bodyPr>
            <a:noAutofit/>
          </a:bodyPr>
          <a:lstStyle/>
          <a:p>
            <a:r>
              <a:rPr lang="en-US" sz="1800" dirty="0"/>
              <a:t>Appointments by purpose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endParaRPr lang="en-US" sz="1800" i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Know why patients visit the hospital most often.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/>
              <a:t>Payments by status</a:t>
            </a:r>
          </a:p>
          <a:p>
            <a:endParaRPr lang="en-US" sz="1800" dirty="0"/>
          </a:p>
          <a:p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Compare paid vs unpaid bills.</a:t>
            </a:r>
          </a:p>
          <a:p>
            <a:endParaRPr lang="en-US" sz="1800" dirty="0"/>
          </a:p>
          <a:p>
            <a:r>
              <a:rPr lang="en-US" sz="1800" dirty="0"/>
              <a:t>Unpaid amount per patient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i="1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See which patients owe money.</a:t>
            </a:r>
          </a:p>
          <a:p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AD6E3E-844D-67D1-57F8-855ABD75613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21326" y="956848"/>
            <a:ext cx="2040103" cy="11735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8692A0-2E0D-74EF-6F2F-E4698ABE2A0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21326" y="3346399"/>
            <a:ext cx="2706364" cy="8024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38D51A-E9F8-5D41-78E0-24649272709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21326" y="5485125"/>
            <a:ext cx="2187469" cy="6812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6CDEA7-ED1E-2CE2-125C-4C7FA7EC8DCD}"/>
              </a:ext>
            </a:extLst>
          </p:cNvPr>
          <p:cNvCxnSpPr/>
          <p:nvPr/>
        </p:nvCxnSpPr>
        <p:spPr>
          <a:xfrm>
            <a:off x="254523" y="4743254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90415A-BE80-D96E-63BE-2A8AF68F2871}"/>
              </a:ext>
            </a:extLst>
          </p:cNvPr>
          <p:cNvCxnSpPr/>
          <p:nvPr/>
        </p:nvCxnSpPr>
        <p:spPr>
          <a:xfrm>
            <a:off x="386498" y="2754199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96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84026-5B00-6E35-843B-24AA3A66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55380" cy="537328"/>
          </a:xfrm>
        </p:spPr>
        <p:txBody>
          <a:bodyPr/>
          <a:lstStyle/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Doctors &amp; Patients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932C6-BC4C-82CE-31B6-72E11DCE6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16900"/>
            <a:ext cx="9144000" cy="6341100"/>
          </a:xfrm>
        </p:spPr>
        <p:txBody>
          <a:bodyPr>
            <a:noAutofit/>
          </a:bodyPr>
          <a:lstStyle/>
          <a:p>
            <a:r>
              <a:rPr lang="en-US" sz="1800" dirty="0"/>
              <a:t>Total appointments per doctor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Insight: See how busy each doctor</a:t>
            </a:r>
          </a:p>
          <a:p>
            <a:endParaRPr lang="en-US" sz="1800" dirty="0"/>
          </a:p>
          <a:p>
            <a:r>
              <a:rPr lang="en-US" sz="1800" dirty="0"/>
              <a:t>Doctors with more than 1 patient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Insight: Identify doctors treating multiple patients.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dirty="0"/>
          </a:p>
          <a:p>
            <a:r>
              <a:rPr lang="en-US" sz="1800" dirty="0"/>
              <a:t>Doctor treating most distinct patients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Insight: Know the busiest doctor in the hospital.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C40039-6271-EE21-602E-FD85EC90F5B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42683" y="972768"/>
            <a:ext cx="1784192" cy="9221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C42C9D-7129-D63E-3179-41B3A09062B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42683" y="3380394"/>
            <a:ext cx="1934402" cy="4648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D8DCCA-6C0D-1CFE-6E5F-7CAD88ACF25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42683" y="5433949"/>
            <a:ext cx="2519658" cy="9025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53FE44-7D34-88FE-EDF3-B4825EE02F70}"/>
              </a:ext>
            </a:extLst>
          </p:cNvPr>
          <p:cNvCxnSpPr/>
          <p:nvPr/>
        </p:nvCxnSpPr>
        <p:spPr>
          <a:xfrm>
            <a:off x="254523" y="4611279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29A430-FC21-9571-0CA9-468AB1728CF9}"/>
              </a:ext>
            </a:extLst>
          </p:cNvPr>
          <p:cNvCxnSpPr/>
          <p:nvPr/>
        </p:nvCxnSpPr>
        <p:spPr>
          <a:xfrm>
            <a:off x="171253" y="2614368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375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937C4-A8AB-3CF4-EAED-AD1042836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055380" cy="609594"/>
          </a:xfrm>
        </p:spPr>
        <p:txBody>
          <a:bodyPr/>
          <a:lstStyle/>
          <a:p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Patient Details &amp;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22A2F-C802-C5C8-456D-7561C75A2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09594"/>
            <a:ext cx="9144000" cy="6248405"/>
          </a:xfrm>
        </p:spPr>
        <p:txBody>
          <a:bodyPr>
            <a:noAutofit/>
          </a:bodyPr>
          <a:lstStyle/>
          <a:p>
            <a:r>
              <a:rPr lang="en-US" sz="1800" dirty="0"/>
              <a:t>Show all patients and their appointment count</a:t>
            </a:r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Identify frequent visitors.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i="1" dirty="0"/>
          </a:p>
          <a:p>
            <a:r>
              <a:rPr lang="en-US" sz="1800" dirty="0"/>
              <a:t>Patients with no medicine</a:t>
            </a:r>
          </a:p>
          <a:p>
            <a:endParaRPr lang="en-US" sz="1800" dirty="0"/>
          </a:p>
          <a:p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See which patients are not taking any medicine.</a:t>
            </a:r>
          </a:p>
          <a:p>
            <a:endParaRPr lang="en-US" sz="1800" dirty="0"/>
          </a:p>
          <a:p>
            <a:r>
              <a:rPr lang="en-US" sz="1800" dirty="0"/>
              <a:t>Patients never admitted</a:t>
            </a:r>
          </a:p>
          <a:p>
            <a:endParaRPr lang="en-US" sz="1800" dirty="0"/>
          </a:p>
          <a:p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Insight</a:t>
            </a:r>
            <a:r>
              <a:rPr lang="en-US" sz="1800" i="1" dirty="0"/>
              <a:t>:</a:t>
            </a:r>
            <a:r>
              <a:rPr lang="en-US" sz="1800" dirty="0"/>
              <a:t> Patients who only had appointments but no hospital stay.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DE9DB-820E-E840-C04F-3D9497D38E8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72583" y="1003843"/>
            <a:ext cx="2662469" cy="12356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F4A389-89C1-34B8-7FF9-60BAEAA0BA5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72583" y="3429000"/>
            <a:ext cx="1367908" cy="72396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782692-BBC1-6CCD-18C0-1D0C5BB6C18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872583" y="5409410"/>
            <a:ext cx="1471624" cy="814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021792-80A5-ECCC-FADD-7C6C8FE728A6}"/>
              </a:ext>
            </a:extLst>
          </p:cNvPr>
          <p:cNvCxnSpPr/>
          <p:nvPr/>
        </p:nvCxnSpPr>
        <p:spPr>
          <a:xfrm>
            <a:off x="160255" y="4799815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DA9A12-08D1-F967-A67A-BADD8D158AE1}"/>
              </a:ext>
            </a:extLst>
          </p:cNvPr>
          <p:cNvCxnSpPr/>
          <p:nvPr/>
        </p:nvCxnSpPr>
        <p:spPr>
          <a:xfrm>
            <a:off x="160255" y="2868892"/>
            <a:ext cx="7324627" cy="0"/>
          </a:xfrm>
          <a:prstGeom prst="line">
            <a:avLst/>
          </a:prstGeom>
          <a:ln w="38100" cmpd="sng">
            <a:solidFill>
              <a:srgbClr val="FF0000">
                <a:alpha val="45000"/>
              </a:srgb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520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59A29-A127-3247-E403-876893F64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44" y="304797"/>
            <a:ext cx="7055380" cy="609594"/>
          </a:xfrm>
        </p:spPr>
        <p:txBody>
          <a:bodyPr>
            <a:normAutofit fontScale="90000"/>
          </a:bodyPr>
          <a:lstStyle/>
          <a:p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AEAC0-22CF-0CEF-3F68-274C53F7A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Hospital Management System helps </a:t>
            </a:r>
            <a:r>
              <a:rPr lang="en-US" b="1" dirty="0"/>
              <a:t>store and manage hospital data efficiently</a:t>
            </a:r>
            <a:r>
              <a:rPr lang="en-US" dirty="0"/>
              <a:t>.</a:t>
            </a:r>
          </a:p>
          <a:p>
            <a:r>
              <a:rPr lang="en-US" dirty="0"/>
              <a:t>Provides </a:t>
            </a:r>
            <a:r>
              <a:rPr lang="en-US" b="1" dirty="0"/>
              <a:t>quick insights</a:t>
            </a:r>
            <a:r>
              <a:rPr lang="en-US" dirty="0"/>
              <a:t> on patients, doctors, rooms, appointments, billing, and medications.</a:t>
            </a:r>
          </a:p>
          <a:p>
            <a:r>
              <a:rPr lang="en-US" dirty="0"/>
              <a:t>Reduces </a:t>
            </a:r>
            <a:r>
              <a:rPr lang="en-US" b="1" dirty="0"/>
              <a:t>manual work</a:t>
            </a:r>
            <a:r>
              <a:rPr lang="en-US" dirty="0"/>
              <a:t> and makes hospital operations </a:t>
            </a:r>
            <a:r>
              <a:rPr lang="en-US" b="1" dirty="0"/>
              <a:t>faster and easier</a:t>
            </a:r>
            <a:r>
              <a:rPr lang="en-US" dirty="0"/>
              <a:t>.</a:t>
            </a:r>
          </a:p>
          <a:p>
            <a:r>
              <a:rPr lang="en-US" dirty="0"/>
              <a:t>SQL queries give </a:t>
            </a:r>
            <a:r>
              <a:rPr lang="en-US" b="1" dirty="0"/>
              <a:t>useful reports</a:t>
            </a:r>
            <a:r>
              <a:rPr lang="en-US" dirty="0"/>
              <a:t> for decision-making and tracking.</a:t>
            </a:r>
          </a:p>
        </p:txBody>
      </p:sp>
      <p:pic>
        <p:nvPicPr>
          <p:cNvPr id="11" name="Graphic 10" descr="Medical">
            <a:extLst>
              <a:ext uri="{FF2B5EF4-FFF2-40B4-BE49-F238E27FC236}">
                <a16:creationId xmlns:a16="http://schemas.microsoft.com/office/drawing/2014/main" id="{A977ADE3-64C8-D220-1FE1-9C5B08759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446" y="5234233"/>
            <a:ext cx="914400" cy="914400"/>
          </a:xfrm>
          <a:prstGeom prst="rect">
            <a:avLst/>
          </a:prstGeom>
        </p:spPr>
      </p:pic>
      <p:pic>
        <p:nvPicPr>
          <p:cNvPr id="13" name="Graphic 12" descr="Doctor">
            <a:extLst>
              <a:ext uri="{FF2B5EF4-FFF2-40B4-BE49-F238E27FC236}">
                <a16:creationId xmlns:a16="http://schemas.microsoft.com/office/drawing/2014/main" id="{A6B77A26-4703-E944-D17E-F241F0F792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2825" y="5111684"/>
            <a:ext cx="914400" cy="914400"/>
          </a:xfrm>
          <a:prstGeom prst="rect">
            <a:avLst/>
          </a:prstGeom>
        </p:spPr>
      </p:pic>
      <p:pic>
        <p:nvPicPr>
          <p:cNvPr id="15" name="Graphic 14" descr="Stethoscope">
            <a:extLst>
              <a:ext uri="{FF2B5EF4-FFF2-40B4-BE49-F238E27FC236}">
                <a16:creationId xmlns:a16="http://schemas.microsoft.com/office/drawing/2014/main" id="{87CCDD3A-9546-0F70-C652-611D4C9BEC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98180" y="523423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89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TM02836342[[fn=Ion]]</Template>
  <TotalTime>768</TotalTime>
  <Words>599</Words>
  <Application>Microsoft Office PowerPoint</Application>
  <PresentationFormat>On-screen Show (4:3)</PresentationFormat>
  <Paragraphs>192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Century Gothic</vt:lpstr>
      <vt:lpstr>Wingdings</vt:lpstr>
      <vt:lpstr>Wingdings 3</vt:lpstr>
      <vt:lpstr>Ion</vt:lpstr>
      <vt:lpstr>PowerPoint Presentation</vt:lpstr>
      <vt:lpstr>Introduction</vt:lpstr>
      <vt:lpstr>Objectives of the Project</vt:lpstr>
      <vt:lpstr>Database Overview</vt:lpstr>
      <vt:lpstr>PowerPoint Presentation</vt:lpstr>
      <vt:lpstr>Patients &amp; Doctors</vt:lpstr>
      <vt:lpstr>Rooms Status</vt:lpstr>
      <vt:lpstr>Appointments Tracking</vt:lpstr>
      <vt:lpstr>Billing Overview</vt:lpstr>
      <vt:lpstr>Patient Medications</vt:lpstr>
      <vt:lpstr>Patient Admissions</vt:lpstr>
      <vt:lpstr>Patient &amp; Payment Insights</vt:lpstr>
      <vt:lpstr>Doctors &amp; Patients</vt:lpstr>
      <vt:lpstr>Patient Details &amp; Insights</vt:lpstr>
      <vt:lpstr>Summary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Nikita</dc:creator>
  <cp:keywords/>
  <dc:description>generated using python-pptx</dc:description>
  <cp:lastModifiedBy>Nikita Divekar</cp:lastModifiedBy>
  <cp:revision>21</cp:revision>
  <dcterms:created xsi:type="dcterms:W3CDTF">2013-01-27T09:14:16Z</dcterms:created>
  <dcterms:modified xsi:type="dcterms:W3CDTF">2025-09-15T07:43:53Z</dcterms:modified>
  <cp:category/>
</cp:coreProperties>
</file>